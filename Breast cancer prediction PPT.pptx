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notesMasterIdLst>
    <p:notesMasterId r:id="rId15"/>
  </p:notesMasterIdLst>
  <p:sldIdLst>
    <p:sldId id="256" r:id="rId3"/>
    <p:sldId id="714" r:id="rId4"/>
    <p:sldId id="674" r:id="rId5"/>
    <p:sldId id="715" r:id="rId6"/>
    <p:sldId id="716" r:id="rId7"/>
    <p:sldId id="717" r:id="rId8"/>
    <p:sldId id="713" r:id="rId9"/>
    <p:sldId id="718" r:id="rId10"/>
    <p:sldId id="719" r:id="rId11"/>
    <p:sldId id="722" r:id="rId12"/>
    <p:sldId id="711" r:id="rId13"/>
    <p:sldId id="30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104" d="100"/>
          <a:sy n="104" d="100"/>
        </p:scale>
        <p:origin x="192" y="51"/>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fld>
            <a:endParaRPr lang="en-IN"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endParaRPr lang="en-US" dirty="0"/>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6" name="Rectangle 5"/>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endParaRPr lang="en-US" dirty="0"/>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6" name="Rectangle 5"/>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endParaRPr lang="en-US" dirty="0"/>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6" name="Rectangle 5"/>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endParaRPr lang="en-US" dirty="0"/>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6" name="Arrow: Pentagon 5"/>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p:cNvSpPr txBox="1"/>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endParaRPr lang="en-US" sz="3400" dirty="0">
              <a:solidFill>
                <a:schemeClr val="bg1"/>
              </a:solidFill>
              <a:latin typeface="Calibri" panose="020F050202020403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p:cNvSpPr txBox="1"/>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endParaRPr lang="en-US" sz="3400" dirty="0">
              <a:solidFill>
                <a:srgbClr val="1D1B58"/>
              </a:solidFill>
              <a:latin typeface="Calibri" panose="020F0502020204030204" pitchFamily="34" charset="0"/>
            </a:endParaRPr>
          </a:p>
        </p:txBody>
      </p:sp>
      <p:sp>
        <p:nvSpPr>
          <p:cNvPr id="13" name="Freeform: Shape 12"/>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endParaRPr lang="en-US" dirty="0"/>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endParaRPr lang="en-US" dirty="0"/>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8" name="Title 1"/>
          <p:cNvSpPr txBox="1"/>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endParaRPr lang="en-US" sz="3400" dirty="0">
              <a:solidFill>
                <a:schemeClr val="bg1"/>
              </a:solidFill>
              <a:latin typeface="Calibri" panose="020F0502020204030204" pitchFamily="34" charset="0"/>
            </a:endParaRPr>
          </a:p>
        </p:txBody>
      </p:sp>
      <p:sp>
        <p:nvSpPr>
          <p:cNvPr id="13" name="Freeform: Shape 12"/>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endParaRPr lang="en-US" dirty="0"/>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endParaRPr lang="en-US" dirty="0"/>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endParaRPr lang="en-US" dirty="0"/>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endParaRPr lang="en-US" dirty="0"/>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endParaRPr lang="en-US" dirty="0"/>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image" Target="../media/image4.png"/><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endParaRPr lang="en-US" dirty="0"/>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pic>
        <p:nvPicPr>
          <p:cNvPr id="2052" name="Picture 4" descr="Top Ranked Data Science Institute, Classroom Plus Online Training | Boston  Institute of Analytics"/>
          <p:cNvPicPr>
            <a:picLocks noChangeAspect="1" noChangeArrowheads="1"/>
          </p:cNvPicPr>
          <p:nvPr userDrawn="1"/>
        </p:nvPicPr>
        <p:blipFill rotWithShape="1">
          <a:blip r:embed="rId17" cstate="print">
            <a:extLst>
              <a:ext uri="{28A0092B-C50C-407E-A947-70E740481C1C}">
                <a14:useLocalDpi xmlns:a14="http://schemas.microsoft.com/office/drawing/2010/main" val="0"/>
              </a:ext>
            </a:extLst>
          </a:blip>
          <a:srcRect l="4000" r="3112"/>
          <a:stretch>
            <a:fillRect/>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endParaRPr lang="en-US" sz="1100" dirty="0">
              <a:solidFill>
                <a:schemeClr val="bg2">
                  <a:lumMod val="75000"/>
                </a:scheme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GB" sz="4400" b="1" dirty="0">
                <a:latin typeface="Calibri" panose="020F0502020204030204" pitchFamily="34" charset="0"/>
              </a:rPr>
              <a:t>Breast Cancer Survival Prediction</a:t>
            </a:r>
            <a:endParaRPr lang="en-US" altLang="en-GB" sz="4400" b="1" dirty="0">
              <a:latin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endParaRPr lang="en-IN" dirty="0"/>
          </a:p>
        </p:txBody>
      </p:sp>
      <p:sp>
        <p:nvSpPr>
          <p:cNvPr id="3" name="Content Placeholder 2"/>
          <p:cNvSpPr>
            <a:spLocks noGrp="1"/>
          </p:cNvSpPr>
          <p:nvPr>
            <p:ph idx="1"/>
          </p:nvPr>
        </p:nvSpPr>
        <p:spPr/>
        <p:txBody>
          <a:bodyPr>
            <a:normAutofit fontScale="25000"/>
          </a:bodyPr>
          <a:lstStyle/>
          <a:p>
            <a:r>
              <a:rPr lang="en-US" altLang="en-GB" sz="9600"/>
              <a:t>Introduction</a:t>
            </a:r>
            <a:endParaRPr lang="en-US" altLang="en-GB" sz="9600"/>
          </a:p>
          <a:p>
            <a:r>
              <a:rPr lang="en-US" altLang="en-GB" sz="9600"/>
              <a:t>Problem Statement</a:t>
            </a:r>
            <a:endParaRPr lang="en-US" altLang="en-GB" sz="9600"/>
          </a:p>
          <a:p>
            <a:r>
              <a:rPr lang="en-US" altLang="en-GB" sz="9600"/>
              <a:t>Project Objectives</a:t>
            </a:r>
            <a:endParaRPr lang="en-US" altLang="en-GB" sz="9600"/>
          </a:p>
          <a:p>
            <a:r>
              <a:rPr lang="en-US" altLang="en-GB" sz="9600"/>
              <a:t>Dataset Overview</a:t>
            </a:r>
            <a:endParaRPr lang="en-US" altLang="en-GB" sz="9600"/>
          </a:p>
          <a:p>
            <a:r>
              <a:rPr lang="en-US" altLang="en-GB" sz="9600"/>
              <a:t>Survival Analysis</a:t>
            </a:r>
            <a:endParaRPr lang="en-US" altLang="en-GB" sz="9600"/>
          </a:p>
          <a:p>
            <a:r>
              <a:rPr lang="en-US" altLang="en-GB" sz="9600"/>
              <a:t>Machine Learning Models</a:t>
            </a:r>
            <a:endParaRPr lang="en-US" altLang="en-GB" sz="9600"/>
          </a:p>
          <a:p>
            <a:r>
              <a:rPr lang="en-US" altLang="en-GB" sz="9600"/>
              <a:t>Results &amp; Evaluation</a:t>
            </a:r>
            <a:endParaRPr lang="en-US" altLang="en-GB" sz="9600"/>
          </a:p>
          <a:p>
            <a:r>
              <a:rPr lang="en-US" altLang="en-GB" sz="9600"/>
              <a:t>Benefits &amp; Impact</a:t>
            </a:r>
            <a:endParaRPr lang="en-US" altLang="en-GB" sz="9600"/>
          </a:p>
          <a:p>
            <a:r>
              <a:rPr lang="en-US" altLang="en-GB" sz="9600"/>
              <a:t>Conclusion &amp; Future Work</a:t>
            </a:r>
            <a:endParaRPr lang="en-US" altLang="en-GB" sz="9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dirty="0"/>
              <a:t>Problem Statement</a:t>
            </a:r>
            <a:endParaRPr lang="en-US" altLang="en-GB" dirty="0"/>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ltLang="en-GB" sz="2400" dirty="0"/>
              <a:t>Breast cancer is one of the leading causes of cancer-related deaths among women</a:t>
            </a:r>
            <a:endParaRPr lang="en-US" altLang="en-GB" sz="2400" dirty="0"/>
          </a:p>
          <a:p>
            <a:pPr lvl="0"/>
            <a:r>
              <a:rPr lang="en-US" altLang="en-GB" sz="2400" dirty="0"/>
              <a:t>Predicting long-term survival is challenging</a:t>
            </a:r>
            <a:endParaRPr lang="en-US" altLang="en-GB" sz="2400" dirty="0"/>
          </a:p>
          <a:p>
            <a:pPr lvl="0"/>
            <a:r>
              <a:rPr lang="en-US" altLang="en-GB" sz="2400" dirty="0"/>
              <a:t>Traditional clinical assessment may not capture complex risk patterns</a:t>
            </a:r>
            <a:endParaRPr lang="en-US" altLang="en-GB" sz="2400" dirty="0"/>
          </a:p>
          <a:p>
            <a:pPr lvl="0"/>
            <a:r>
              <a:rPr lang="en-US" altLang="en-GB" sz="2400" dirty="0"/>
              <a:t>Need for data-driven models to predict 10-year mortality risk</a:t>
            </a:r>
            <a:endParaRPr lang="en-US" altLang="en-GB"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Project Objectives</a:t>
            </a:r>
            <a:endParaRPr lang="en-US" altLang="en-GB"/>
          </a:p>
        </p:txBody>
      </p:sp>
      <p:sp>
        <p:nvSpPr>
          <p:cNvPr id="3" name="Content Placeholder 2"/>
          <p:cNvSpPr>
            <a:spLocks noGrp="1"/>
          </p:cNvSpPr>
          <p:nvPr>
            <p:ph idx="1"/>
          </p:nvPr>
        </p:nvSpPr>
        <p:spPr/>
        <p:txBody>
          <a:bodyPr>
            <a:normAutofit/>
          </a:bodyPr>
          <a:p>
            <a:r>
              <a:rPr lang="en-US" altLang="en-GB" sz="2400"/>
              <a:t>Analyze breast cancer survival trends</a:t>
            </a:r>
            <a:endParaRPr lang="en-US" altLang="en-GB" sz="2400"/>
          </a:p>
          <a:p>
            <a:r>
              <a:rPr lang="en-US" altLang="en-GB" sz="2400"/>
              <a:t>Identify key factors affecting patient survival</a:t>
            </a:r>
            <a:endParaRPr lang="en-US" altLang="en-GB" sz="2400"/>
          </a:p>
          <a:p>
            <a:r>
              <a:rPr lang="en-US" altLang="en-GB" sz="2400"/>
              <a:t>Build survival analysis models</a:t>
            </a:r>
            <a:endParaRPr lang="en-US" altLang="en-GB" sz="2400"/>
          </a:p>
          <a:p>
            <a:r>
              <a:rPr lang="en-US" altLang="en-GB" sz="2400"/>
              <a:t>Develop machine learning models for mortality risk prediction</a:t>
            </a:r>
            <a:endParaRPr lang="en-US" altLang="en-GB" sz="2400"/>
          </a:p>
          <a:p>
            <a:r>
              <a:rPr lang="en-US" altLang="en-GB" sz="2400"/>
              <a:t>Support better treatment planning and patient counseling</a:t>
            </a:r>
            <a:endParaRPr lang="en-US" altLang="en-GB"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Dataset Overview</a:t>
            </a:r>
            <a:endParaRPr lang="en-US" altLang="en-GB"/>
          </a:p>
        </p:txBody>
      </p:sp>
      <p:sp>
        <p:nvSpPr>
          <p:cNvPr id="3" name="Content Placeholder 2"/>
          <p:cNvSpPr>
            <a:spLocks noGrp="1"/>
          </p:cNvSpPr>
          <p:nvPr>
            <p:ph idx="1"/>
          </p:nvPr>
        </p:nvSpPr>
        <p:spPr/>
        <p:txBody>
          <a:bodyPr>
            <a:noAutofit/>
          </a:bodyPr>
          <a:p>
            <a:r>
              <a:rPr lang="en-US" altLang="en-GB" sz="2400"/>
              <a:t>Patient clinical and demographic data</a:t>
            </a:r>
            <a:endParaRPr lang="en-US" altLang="en-GB" sz="2400"/>
          </a:p>
          <a:p>
            <a:r>
              <a:rPr lang="en-US" altLang="en-GB" sz="2400"/>
              <a:t>Includes survival time and event status</a:t>
            </a:r>
            <a:endParaRPr lang="en-US" altLang="en-GB" sz="2400"/>
          </a:p>
          <a:p>
            <a:r>
              <a:rPr lang="en-US" altLang="en-GB" sz="2400"/>
              <a:t>Features may include:</a:t>
            </a:r>
            <a:endParaRPr lang="en-US" altLang="en-GB" sz="2400"/>
          </a:p>
          <a:p>
            <a:r>
              <a:rPr lang="en-US" altLang="en-GB" sz="2400"/>
              <a:t>Age at diagnosis</a:t>
            </a:r>
            <a:endParaRPr lang="en-US" altLang="en-GB" sz="2400"/>
          </a:p>
          <a:p>
            <a:r>
              <a:rPr lang="en-US" altLang="en-GB" sz="2400"/>
              <a:t>Tumor characteristics</a:t>
            </a:r>
            <a:endParaRPr lang="en-US" altLang="en-GB" sz="2400"/>
          </a:p>
          <a:p>
            <a:r>
              <a:rPr lang="en-US" altLang="en-GB" sz="2400"/>
              <a:t>Treatment details</a:t>
            </a:r>
            <a:endParaRPr lang="en-US" altLang="en-GB" sz="2400"/>
          </a:p>
          <a:p>
            <a:r>
              <a:rPr lang="en-US" altLang="en-GB" sz="2400"/>
              <a:t>Follow-up duration</a:t>
            </a:r>
            <a:endParaRPr lang="en-US" altLang="en-GB" sz="2400"/>
          </a:p>
          <a:p>
            <a:r>
              <a:rPr lang="en-US" altLang="en-GB" sz="2400"/>
              <a:t>Target: 10-year </a:t>
            </a:r>
            <a:r>
              <a:rPr lang="en-US" altLang="en-GB" sz="2400"/>
              <a:t>mortality / survival outcome</a:t>
            </a:r>
            <a:endParaRPr lang="en-US" altLang="en-GB"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Data Preprocessing</a:t>
            </a:r>
            <a:endParaRPr lang="en-US" altLang="en-GB"/>
          </a:p>
        </p:txBody>
      </p:sp>
      <p:sp>
        <p:nvSpPr>
          <p:cNvPr id="3" name="Content Placeholder 2"/>
          <p:cNvSpPr>
            <a:spLocks noGrp="1"/>
          </p:cNvSpPr>
          <p:nvPr>
            <p:ph idx="1"/>
          </p:nvPr>
        </p:nvSpPr>
        <p:spPr/>
        <p:txBody>
          <a:bodyPr>
            <a:normAutofit/>
          </a:bodyPr>
          <a:p>
            <a:r>
              <a:rPr lang="en-US" altLang="en-GB" sz="2400"/>
              <a:t>Handling missing values</a:t>
            </a:r>
            <a:endParaRPr lang="en-US" altLang="en-GB" sz="2400"/>
          </a:p>
          <a:p>
            <a:r>
              <a:rPr lang="en-US" altLang="en-GB" sz="2400"/>
              <a:t>Encoding categorical variables</a:t>
            </a:r>
            <a:endParaRPr lang="en-US" altLang="en-GB" sz="2400"/>
          </a:p>
          <a:p>
            <a:r>
              <a:rPr lang="en-US" altLang="en-GB" sz="2400"/>
              <a:t>Feature selection</a:t>
            </a:r>
            <a:endParaRPr lang="en-US" altLang="en-GB" sz="2400"/>
          </a:p>
          <a:p>
            <a:r>
              <a:rPr lang="en-US" altLang="en-GB" sz="2400"/>
              <a:t>Normalization / scaling (if required)</a:t>
            </a:r>
            <a:endParaRPr lang="en-US" altLang="en-GB" sz="2400"/>
          </a:p>
          <a:p>
            <a:r>
              <a:rPr lang="en-US" altLang="en-GB" sz="2400"/>
              <a:t>Creating survival duration and event variables</a:t>
            </a:r>
            <a:endParaRPr lang="en-US" altLang="en-GB"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GB"/>
              <a:t>Survival Analysis</a:t>
            </a:r>
            <a:endParaRPr lang="en-US" altLang="en-GB"/>
          </a:p>
        </p:txBody>
      </p:sp>
      <p:sp>
        <p:nvSpPr>
          <p:cNvPr id="5" name="Content Placeholder 4"/>
          <p:cNvSpPr>
            <a:spLocks noGrp="1"/>
          </p:cNvSpPr>
          <p:nvPr>
            <p:ph idx="1"/>
          </p:nvPr>
        </p:nvSpPr>
        <p:spPr/>
        <p:txBody>
          <a:bodyPr>
            <a:noAutofit/>
          </a:bodyPr>
          <a:lstStyle/>
          <a:p>
            <a:r>
              <a:rPr lang="en-US" altLang="en-GB" sz="2300"/>
              <a:t>Used to analyze time-to-event data</a:t>
            </a:r>
            <a:endParaRPr lang="en-US" altLang="en-GB" sz="2300"/>
          </a:p>
          <a:p>
            <a:r>
              <a:rPr lang="en-US" altLang="en-GB" sz="2300"/>
              <a:t>Helps estimate probability of survival over time</a:t>
            </a:r>
            <a:endParaRPr lang="en-US" altLang="en-GB" sz="2300"/>
          </a:p>
          <a:p>
            <a:r>
              <a:rPr lang="en-US" altLang="en-GB" sz="2300"/>
              <a:t>Key Techniques:</a:t>
            </a:r>
            <a:endParaRPr lang="en-US" altLang="en-GB" sz="2300"/>
          </a:p>
          <a:p>
            <a:r>
              <a:rPr lang="en-US" altLang="en-GB" sz="2300"/>
              <a:t>Kaplan–Meier Survival Curves</a:t>
            </a:r>
            <a:endParaRPr lang="en-US" altLang="en-GB" sz="2300"/>
          </a:p>
          <a:p>
            <a:r>
              <a:rPr lang="en-US" altLang="en-GB" sz="2300"/>
              <a:t>Log-rank Test</a:t>
            </a:r>
            <a:endParaRPr lang="en-US" altLang="en-GB" sz="2300"/>
          </a:p>
          <a:p>
            <a:r>
              <a:rPr lang="en-US" altLang="en-GB" sz="2300"/>
              <a:t>Cox Proportional Hazards Model</a:t>
            </a:r>
            <a:endParaRPr lang="en-US" altLang="en-GB" sz="2300"/>
          </a:p>
        </p:txBody>
      </p:sp>
      <p:pic>
        <p:nvPicPr>
          <p:cNvPr id="2" name="Picture 1" descr="Basu.jpg"/>
          <p:cNvPicPr>
            <a:picLocks noChangeAspect="1"/>
          </p:cNvPicPr>
          <p:nvPr/>
        </p:nvPicPr>
        <p:blipFill>
          <a:blip r:embed="rId1"/>
          <a:stretch>
            <a:fillRect/>
          </a:stretch>
        </p:blipFill>
        <p:spPr>
          <a:xfrm>
            <a:off x="6885305" y="603885"/>
            <a:ext cx="4749800" cy="50044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GB"/>
              <a:t>Learning Models</a:t>
            </a:r>
            <a:endParaRPr lang="en-US" altLang="en-GB"/>
          </a:p>
        </p:txBody>
      </p:sp>
      <p:sp>
        <p:nvSpPr>
          <p:cNvPr id="5" name="Text Placeholder 4"/>
          <p:cNvSpPr>
            <a:spLocks noGrp="1"/>
          </p:cNvSpPr>
          <p:nvPr>
            <p:ph type="body" idx="1"/>
          </p:nvPr>
        </p:nvSpPr>
        <p:spPr/>
        <p:txBody>
          <a:bodyPr/>
          <a:p>
            <a:r>
              <a:rPr lang="en-US" altLang="en-GB"/>
              <a:t>Machine Learning Models</a:t>
            </a:r>
            <a:endParaRPr lang="en-US" altLang="en-GB"/>
          </a:p>
        </p:txBody>
      </p:sp>
      <p:sp>
        <p:nvSpPr>
          <p:cNvPr id="6" name="Content Placeholder 5"/>
          <p:cNvSpPr>
            <a:spLocks noGrp="1"/>
          </p:cNvSpPr>
          <p:nvPr>
            <p:ph sz="half" idx="2"/>
          </p:nvPr>
        </p:nvSpPr>
        <p:spPr/>
        <p:txBody>
          <a:bodyPr>
            <a:normAutofit/>
          </a:bodyPr>
          <a:p>
            <a:r>
              <a:rPr lang="en-US" altLang="en-GB" sz="2400"/>
              <a:t>Used to predict 10-year mortality risk:</a:t>
            </a:r>
            <a:endParaRPr lang="en-US" altLang="en-GB" sz="2400"/>
          </a:p>
          <a:p>
            <a:r>
              <a:rPr lang="en-US" altLang="en-GB" sz="2400"/>
              <a:t>Logistic Regression</a:t>
            </a:r>
            <a:endParaRPr lang="en-US" altLang="en-GB" sz="2400"/>
          </a:p>
          <a:p>
            <a:r>
              <a:rPr lang="en-US" altLang="en-GB" sz="2400"/>
              <a:t>Random Forest</a:t>
            </a:r>
            <a:endParaRPr lang="en-US" altLang="en-GB" sz="2400"/>
          </a:p>
          <a:p>
            <a:r>
              <a:rPr lang="en-US" altLang="en-GB" sz="2400"/>
              <a:t>Gradient Boosting / XGBoost</a:t>
            </a:r>
            <a:endParaRPr lang="en-US" altLang="en-GB" sz="2400"/>
          </a:p>
        </p:txBody>
      </p:sp>
      <p:sp>
        <p:nvSpPr>
          <p:cNvPr id="7" name="Text Placeholder 6"/>
          <p:cNvSpPr>
            <a:spLocks noGrp="1"/>
          </p:cNvSpPr>
          <p:nvPr>
            <p:ph type="body" sz="quarter" idx="3"/>
          </p:nvPr>
        </p:nvSpPr>
        <p:spPr/>
        <p:txBody>
          <a:bodyPr/>
          <a:p>
            <a:r>
              <a:rPr lang="en-US" altLang="en-GB"/>
              <a:t>Model Training Process</a:t>
            </a:r>
            <a:endParaRPr lang="en-US" altLang="en-GB"/>
          </a:p>
        </p:txBody>
      </p:sp>
      <p:sp>
        <p:nvSpPr>
          <p:cNvPr id="8" name="Content Placeholder 7"/>
          <p:cNvSpPr>
            <a:spLocks noGrp="1"/>
          </p:cNvSpPr>
          <p:nvPr>
            <p:ph sz="quarter" idx="4"/>
          </p:nvPr>
        </p:nvSpPr>
        <p:spPr/>
        <p:txBody>
          <a:bodyPr>
            <a:normAutofit/>
          </a:bodyPr>
          <a:p>
            <a:r>
              <a:rPr lang="en-US" altLang="en-GB" sz="2400"/>
              <a:t>Train-test split</a:t>
            </a:r>
            <a:endParaRPr lang="en-US" altLang="en-GB" sz="2400"/>
          </a:p>
          <a:p>
            <a:r>
              <a:rPr lang="en-US" altLang="en-GB" sz="2400"/>
              <a:t>Cross-validation</a:t>
            </a:r>
            <a:endParaRPr lang="en-US" altLang="en-GB" sz="2400"/>
          </a:p>
          <a:p>
            <a:r>
              <a:rPr lang="en-US" altLang="en-GB" sz="2400"/>
              <a:t>Hyperparameter tuning</a:t>
            </a:r>
            <a:endParaRPr lang="en-US" altLang="en-GB" sz="2400"/>
          </a:p>
          <a:p>
            <a:r>
              <a:rPr lang="en-US" altLang="en-GB" sz="2400"/>
              <a:t>Performance comparison across models</a:t>
            </a:r>
            <a:endParaRPr lang="en-US" altLang="en-GB"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Evaluation Metrics</a:t>
            </a:r>
            <a:endParaRPr lang="en-US" altLang="en-GB"/>
          </a:p>
        </p:txBody>
      </p:sp>
      <p:sp>
        <p:nvSpPr>
          <p:cNvPr id="3" name="Content Placeholder 2"/>
          <p:cNvSpPr>
            <a:spLocks noGrp="1"/>
          </p:cNvSpPr>
          <p:nvPr>
            <p:ph idx="1"/>
          </p:nvPr>
        </p:nvSpPr>
        <p:spPr/>
        <p:txBody>
          <a:bodyPr>
            <a:normAutofit lnSpcReduction="10000"/>
          </a:bodyPr>
          <a:p>
            <a:r>
              <a:rPr lang="en-US" altLang="en-GB" sz="2400"/>
              <a:t>Accuracy</a:t>
            </a:r>
            <a:endParaRPr lang="en-US" altLang="en-GB" sz="2400"/>
          </a:p>
          <a:p>
            <a:r>
              <a:rPr lang="en-US" altLang="en-GB" sz="2400"/>
              <a:t>Precision &amp; Recall</a:t>
            </a:r>
            <a:endParaRPr lang="en-US" altLang="en-GB" sz="2400"/>
          </a:p>
          <a:p>
            <a:r>
              <a:rPr lang="en-US" altLang="en-GB" sz="2400"/>
              <a:t>F1-Score</a:t>
            </a:r>
            <a:endParaRPr lang="en-US" altLang="en-GB" sz="2400"/>
          </a:p>
          <a:p>
            <a:r>
              <a:rPr lang="en-US" altLang="en-GB" sz="2400"/>
              <a:t>ROC Curve &amp; AUC</a:t>
            </a:r>
            <a:endParaRPr lang="en-US" altLang="en-GB" sz="2400"/>
          </a:p>
          <a:p>
            <a:r>
              <a:rPr lang="en-US" altLang="en-GB" sz="2400"/>
              <a:t>Concordance Index (for survival models)</a:t>
            </a:r>
            <a:endParaRPr lang="en-US" altLang="en-GB" sz="2400"/>
          </a:p>
        </p:txBody>
      </p:sp>
      <p:pic>
        <p:nvPicPr>
          <p:cNvPr id="4" name="Picture 3" descr="basu.jpg"/>
          <p:cNvPicPr>
            <a:picLocks noChangeAspect="1"/>
          </p:cNvPicPr>
          <p:nvPr/>
        </p:nvPicPr>
        <p:blipFill>
          <a:blip r:embed="rId1"/>
          <a:stretch>
            <a:fillRect/>
          </a:stretch>
        </p:blipFill>
        <p:spPr>
          <a:xfrm>
            <a:off x="6501130" y="915670"/>
            <a:ext cx="5169535" cy="48107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itle 6"/>
          <p:cNvSpPr>
            <a:spLocks noGrp="1"/>
          </p:cNvSpPr>
          <p:nvPr>
            <p:ph type="title"/>
          </p:nvPr>
        </p:nvSpPr>
        <p:spPr/>
        <p:txBody>
          <a:bodyPr/>
          <a:p>
            <a:r>
              <a:rPr lang="en-US" altLang="en-GB"/>
              <a:t>Conclusion</a:t>
            </a:r>
            <a:r>
              <a:rPr lang="en-IN" altLang="en-US"/>
              <a:t> &amp; </a:t>
            </a:r>
            <a:r>
              <a:rPr lang="en-US" altLang="en-GB"/>
              <a:t>Future Work</a:t>
            </a:r>
            <a:endParaRPr lang="en-US" altLang="en-GB"/>
          </a:p>
        </p:txBody>
      </p:sp>
      <p:sp>
        <p:nvSpPr>
          <p:cNvPr id="8" name="Content Placeholder 7"/>
          <p:cNvSpPr>
            <a:spLocks noGrp="1"/>
          </p:cNvSpPr>
          <p:nvPr>
            <p:ph sz="half" idx="1"/>
          </p:nvPr>
        </p:nvSpPr>
        <p:spPr/>
        <p:txBody>
          <a:bodyPr>
            <a:normAutofit lnSpcReduction="10000"/>
          </a:bodyPr>
          <a:p>
            <a:r>
              <a:rPr lang="en-US" altLang="en-GB" sz="2400"/>
              <a:t>Successfully developed survival and ML models</a:t>
            </a:r>
            <a:endParaRPr lang="en-US" altLang="en-GB" sz="2400"/>
          </a:p>
          <a:p>
            <a:r>
              <a:rPr lang="en-US" altLang="en-GB" sz="2400"/>
              <a:t>Identified major factors influencing breast cancer survival</a:t>
            </a:r>
            <a:endParaRPr lang="en-US" altLang="en-GB" sz="2400"/>
          </a:p>
          <a:p>
            <a:r>
              <a:rPr lang="en-US" altLang="en-GB" sz="2400"/>
              <a:t>Models can assist in predicting 10-year mortality risk</a:t>
            </a:r>
            <a:endParaRPr lang="en-US" altLang="en-GB" sz="2400"/>
          </a:p>
          <a:p>
            <a:r>
              <a:rPr lang="en-US" altLang="en-GB" sz="2400"/>
              <a:t>Potential to improve personalized cancer care</a:t>
            </a:r>
            <a:endParaRPr lang="en-US" altLang="en-GB" sz="2400"/>
          </a:p>
        </p:txBody>
      </p:sp>
      <p:sp>
        <p:nvSpPr>
          <p:cNvPr id="9" name="Content Placeholder 8"/>
          <p:cNvSpPr>
            <a:spLocks noGrp="1"/>
          </p:cNvSpPr>
          <p:nvPr>
            <p:ph sz="half" idx="2"/>
          </p:nvPr>
        </p:nvSpPr>
        <p:spPr/>
        <p:txBody>
          <a:bodyPr>
            <a:normAutofit/>
          </a:bodyPr>
          <a:p>
            <a:r>
              <a:rPr lang="en-US" altLang="en-GB" sz="2400"/>
              <a:t>Use larger and multi-center datasets</a:t>
            </a:r>
            <a:endParaRPr lang="en-US" altLang="en-GB" sz="2400"/>
          </a:p>
          <a:p>
            <a:r>
              <a:rPr lang="en-US" altLang="en-GB" sz="2400"/>
              <a:t>Incorporate genetic and imaging data</a:t>
            </a:r>
            <a:endParaRPr lang="en-US" altLang="en-GB" sz="2400"/>
          </a:p>
          <a:p>
            <a:r>
              <a:rPr lang="en-US" altLang="en-GB" sz="2400"/>
              <a:t>Deploy as a clinical decision-support tool</a:t>
            </a:r>
            <a:endParaRPr lang="en-US" altLang="en-GB" sz="2400"/>
          </a:p>
          <a:p>
            <a:r>
              <a:rPr lang="en-US" altLang="en-GB" sz="2400"/>
              <a:t>Improve model explainability (SHAP, LIME)</a:t>
            </a:r>
            <a:endParaRPr lang="en-US" altLang="en-GB" sz="2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br>
              <a:rPr lang="en-IN" dirty="0"/>
            </a:br>
            <a:r>
              <a:rPr lang="en-IN" dirty="0"/>
              <a:t>Questions ?</a:t>
            </a: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2064</Words>
  <Application>WPS Presentation</Application>
  <PresentationFormat>Widescreen</PresentationFormat>
  <Paragraphs>97</Paragraphs>
  <Slides>12</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12</vt:i4>
      </vt:variant>
    </vt:vector>
  </HeadingPairs>
  <TitlesOfParts>
    <vt:vector size="21" baseType="lpstr">
      <vt:lpstr>Arial</vt:lpstr>
      <vt:lpstr>SimSun</vt:lpstr>
      <vt:lpstr>Wingdings</vt:lpstr>
      <vt:lpstr>Calibri</vt:lpstr>
      <vt:lpstr>Nunito</vt:lpstr>
      <vt:lpstr>Segoe Print</vt:lpstr>
      <vt:lpstr>Microsoft YaHei</vt:lpstr>
      <vt:lpstr>Arial Unicode MS</vt:lpstr>
      <vt:lpstr>BIA Template</vt:lpstr>
      <vt:lpstr>PowerPoint 演示文稿</vt:lpstr>
      <vt:lpstr>Agenda</vt:lpstr>
      <vt:lpstr>Problem Statement</vt:lpstr>
      <vt:lpstr>Project Objectives</vt:lpstr>
      <vt:lpstr>Dataset Overview</vt:lpstr>
      <vt:lpstr>Data Preprocessing</vt:lpstr>
      <vt:lpstr>Survival Analysis</vt:lpstr>
      <vt:lpstr>Learning Models</vt:lpstr>
      <vt:lpstr>Evaluation Metrics</vt:lpstr>
      <vt:lpstr>Conclusion &amp; Future Work</vt:lpstr>
      <vt:lpstr> Questions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Naveen Kitageri</cp:lastModifiedBy>
  <cp:revision>2257</cp:revision>
  <dcterms:created xsi:type="dcterms:W3CDTF">2020-12-23T13:36:00Z</dcterms:created>
  <dcterms:modified xsi:type="dcterms:W3CDTF">2026-02-07T09:37:11Z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8FA05712E99E40879941DCA0561F97D7_13</vt:lpwstr>
  </property>
  <property fmtid="{D5CDD505-2E9C-101B-9397-08002B2CF9AE}" pid="3" name="KSOProductBuildVer">
    <vt:lpwstr>2057-12.2.0.23197</vt:lpwstr>
  </property>
</Properties>
</file>